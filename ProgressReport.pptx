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DG Jory" charset="1" panose="02000000000000000000"/>
      <p:regular r:id="rId21"/>
    </p:embeddedFont>
    <p:embeddedFont>
      <p:font typeface="DG Jory Bold" charset="1" panose="02000000000000000000"/>
      <p:regular r:id="rId22"/>
    </p:embeddedFont>
    <p:embeddedFont>
      <p:font typeface="Alata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13" Target="../media/image41.png" Type="http://schemas.openxmlformats.org/officeDocument/2006/relationships/image"/><Relationship Id="rId14" Target="../media/image42.svg" Type="http://schemas.openxmlformats.org/officeDocument/2006/relationships/image"/><Relationship Id="rId2" Target="../media/image1.pn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13" Target="../media/image41.png" Type="http://schemas.openxmlformats.org/officeDocument/2006/relationships/image"/><Relationship Id="rId14" Target="../media/image42.svg" Type="http://schemas.openxmlformats.org/officeDocument/2006/relationships/image"/><Relationship Id="rId2" Target="../media/image1.pn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04697" y="6990461"/>
            <a:ext cx="3299766" cy="2267839"/>
          </a:xfrm>
          <a:custGeom>
            <a:avLst/>
            <a:gdLst/>
            <a:ahLst/>
            <a:cxnLst/>
            <a:rect r="r" b="b" t="t" l="l"/>
            <a:pathLst>
              <a:path h="2267839" w="3299766">
                <a:moveTo>
                  <a:pt x="0" y="0"/>
                </a:moveTo>
                <a:lnTo>
                  <a:pt x="3299765" y="0"/>
                </a:lnTo>
                <a:lnTo>
                  <a:pt x="3299765" y="2267839"/>
                </a:lnTo>
                <a:lnTo>
                  <a:pt x="0" y="2267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87197" y="630915"/>
            <a:ext cx="6902652" cy="6325339"/>
          </a:xfrm>
          <a:custGeom>
            <a:avLst/>
            <a:gdLst/>
            <a:ahLst/>
            <a:cxnLst/>
            <a:rect r="r" b="b" t="t" l="l"/>
            <a:pathLst>
              <a:path h="6325339" w="6902652">
                <a:moveTo>
                  <a:pt x="0" y="0"/>
                </a:moveTo>
                <a:lnTo>
                  <a:pt x="6902653" y="0"/>
                </a:lnTo>
                <a:lnTo>
                  <a:pt x="6902653" y="6325340"/>
                </a:lnTo>
                <a:lnTo>
                  <a:pt x="0" y="63253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28719" y="3754564"/>
            <a:ext cx="4430581" cy="5488556"/>
          </a:xfrm>
          <a:custGeom>
            <a:avLst/>
            <a:gdLst/>
            <a:ahLst/>
            <a:cxnLst/>
            <a:rect r="r" b="b" t="t" l="l"/>
            <a:pathLst>
              <a:path h="5488556" w="4430581">
                <a:moveTo>
                  <a:pt x="0" y="0"/>
                </a:moveTo>
                <a:lnTo>
                  <a:pt x="4430581" y="0"/>
                </a:lnTo>
                <a:lnTo>
                  <a:pt x="4430581" y="5488555"/>
                </a:lnTo>
                <a:lnTo>
                  <a:pt x="0" y="54885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0417" y="1515737"/>
            <a:ext cx="9566498" cy="80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612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Real-Time Speech Translation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62341" y="2266078"/>
            <a:ext cx="4434177" cy="94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Cornerstone Project</a:t>
            </a:r>
          </a:p>
          <a:p>
            <a:pPr algn="l">
              <a:lnSpc>
                <a:spcPts val="379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340126" y="4029310"/>
            <a:ext cx="2751455" cy="14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5"/>
              </a:lnSpc>
              <a:spcBef>
                <a:spcPct val="0"/>
              </a:spcBef>
            </a:pPr>
            <a:r>
              <a:rPr lang="en-US" b="true" sz="2832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INSTR</a:t>
            </a:r>
            <a:r>
              <a:rPr lang="en-US" b="true" sz="2832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UCTOR- </a:t>
            </a:r>
          </a:p>
          <a:p>
            <a:pPr algn="just">
              <a:lnSpc>
                <a:spcPts val="3965"/>
              </a:lnSpc>
              <a:spcBef>
                <a:spcPct val="0"/>
              </a:spcBef>
            </a:pPr>
            <a:r>
              <a:rPr lang="en-US" b="true" sz="2832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PROF KOLIN PAUL</a:t>
            </a:r>
          </a:p>
          <a:p>
            <a:pPr algn="just">
              <a:lnSpc>
                <a:spcPts val="3965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117513" y="6328818"/>
            <a:ext cx="5196681" cy="197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5"/>
              </a:lnSpc>
              <a:spcBef>
                <a:spcPct val="0"/>
              </a:spcBef>
            </a:pPr>
            <a:r>
              <a:rPr lang="en-US" b="true" sz="2832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G</a:t>
            </a:r>
            <a:r>
              <a:rPr lang="en-US" b="true" sz="2832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ROUP-</a:t>
            </a:r>
          </a:p>
          <a:p>
            <a:pPr algn="just">
              <a:lnSpc>
                <a:spcPts val="3965"/>
              </a:lnSpc>
              <a:spcBef>
                <a:spcPct val="0"/>
              </a:spcBef>
            </a:pPr>
            <a:r>
              <a:rPr lang="en-US" b="true" sz="2832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ASTITWA SAXENA – 2025MCS3005</a:t>
            </a:r>
          </a:p>
          <a:p>
            <a:pPr algn="just">
              <a:lnSpc>
                <a:spcPts val="3965"/>
              </a:lnSpc>
              <a:spcBef>
                <a:spcPct val="0"/>
              </a:spcBef>
            </a:pPr>
            <a:r>
              <a:rPr lang="en-US" b="true" sz="2832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ABHISHEK GUPTA – 2025MCS2963</a:t>
            </a:r>
          </a:p>
          <a:p>
            <a:pPr algn="just">
              <a:lnSpc>
                <a:spcPts val="396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25902" y="738681"/>
            <a:ext cx="7277003" cy="6721304"/>
          </a:xfrm>
          <a:custGeom>
            <a:avLst/>
            <a:gdLst/>
            <a:ahLst/>
            <a:cxnLst/>
            <a:rect r="r" b="b" t="t" l="l"/>
            <a:pathLst>
              <a:path h="6721304" w="7277003">
                <a:moveTo>
                  <a:pt x="0" y="0"/>
                </a:moveTo>
                <a:lnTo>
                  <a:pt x="7277003" y="0"/>
                </a:lnTo>
                <a:lnTo>
                  <a:pt x="7277003" y="6721304"/>
                </a:lnTo>
                <a:lnTo>
                  <a:pt x="0" y="67213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59909" y="8804414"/>
            <a:ext cx="12608990" cy="7634170"/>
          </a:xfrm>
          <a:custGeom>
            <a:avLst/>
            <a:gdLst/>
            <a:ahLst/>
            <a:cxnLst/>
            <a:rect r="r" b="b" t="t" l="l"/>
            <a:pathLst>
              <a:path h="7634170" w="12608990">
                <a:moveTo>
                  <a:pt x="0" y="0"/>
                </a:moveTo>
                <a:lnTo>
                  <a:pt x="12608989" y="0"/>
                </a:lnTo>
                <a:lnTo>
                  <a:pt x="12608989" y="7634170"/>
                </a:lnTo>
                <a:lnTo>
                  <a:pt x="0" y="76341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64403" y="6642246"/>
            <a:ext cx="3322115" cy="2875140"/>
          </a:xfrm>
          <a:custGeom>
            <a:avLst/>
            <a:gdLst/>
            <a:ahLst/>
            <a:cxnLst/>
            <a:rect r="r" b="b" t="t" l="l"/>
            <a:pathLst>
              <a:path h="2875140" w="3322115">
                <a:moveTo>
                  <a:pt x="0" y="0"/>
                </a:moveTo>
                <a:lnTo>
                  <a:pt x="3322116" y="0"/>
                </a:lnTo>
                <a:lnTo>
                  <a:pt x="3322116" y="2875139"/>
                </a:lnTo>
                <a:lnTo>
                  <a:pt x="0" y="28751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57388" y="8401921"/>
            <a:ext cx="1781802" cy="1712757"/>
          </a:xfrm>
          <a:custGeom>
            <a:avLst/>
            <a:gdLst/>
            <a:ahLst/>
            <a:cxnLst/>
            <a:rect r="r" b="b" t="t" l="l"/>
            <a:pathLst>
              <a:path h="1712757" w="1781802">
                <a:moveTo>
                  <a:pt x="0" y="0"/>
                </a:moveTo>
                <a:lnTo>
                  <a:pt x="1781802" y="0"/>
                </a:lnTo>
                <a:lnTo>
                  <a:pt x="1781802" y="1712758"/>
                </a:lnTo>
                <a:lnTo>
                  <a:pt x="0" y="17127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27949" y="1661905"/>
            <a:ext cx="7012626" cy="133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1"/>
              </a:lnSpc>
            </a:pPr>
            <a:r>
              <a:rPr lang="en-US" sz="7722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198" y="3254331"/>
            <a:ext cx="9714418" cy="464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4"/>
              </a:lnSpc>
            </a:pPr>
            <a:r>
              <a:rPr lang="en-US" sz="263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The pr</a:t>
            </a:r>
            <a:r>
              <a:rPr lang="en-US" sz="263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oject aims to build a real-time speech-to-speech translation system that operates as a continuous processing pipeline.</a:t>
            </a:r>
          </a:p>
          <a:p>
            <a:pPr algn="just">
              <a:lnSpc>
                <a:spcPts val="3684"/>
              </a:lnSpc>
            </a:pPr>
          </a:p>
          <a:p>
            <a:pPr algn="just">
              <a:lnSpc>
                <a:spcPts val="3684"/>
              </a:lnSpc>
            </a:pPr>
            <a:r>
              <a:rPr lang="en-US" sz="263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Key Features:</a:t>
            </a:r>
          </a:p>
          <a:p>
            <a:pPr algn="l" marL="568253" indent="-284127" lvl="1">
              <a:lnSpc>
                <a:spcPts val="3684"/>
              </a:lnSpc>
              <a:buAutoNum type="arabicPeriod" startAt="1"/>
            </a:pPr>
            <a:r>
              <a:rPr lang="en-US" sz="263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Real-time processing: Converts live speech into translated speech with minimal latency.</a:t>
            </a:r>
          </a:p>
          <a:p>
            <a:pPr algn="l" marL="568253" indent="-284127" lvl="1">
              <a:lnSpc>
                <a:spcPts val="3684"/>
              </a:lnSpc>
              <a:buAutoNum type="arabicPeriod" startAt="1"/>
            </a:pPr>
            <a:r>
              <a:rPr lang="en-US" sz="263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Modules involved: Microphone → ASR (Speech Recognition) → Translation → TTS (Speech Synthesis).</a:t>
            </a:r>
          </a:p>
          <a:p>
            <a:pPr algn="l">
              <a:lnSpc>
                <a:spcPts val="368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27853" y="4942813"/>
            <a:ext cx="4455000" cy="4114800"/>
          </a:xfrm>
          <a:custGeom>
            <a:avLst/>
            <a:gdLst/>
            <a:ahLst/>
            <a:cxnLst/>
            <a:rect r="r" b="b" t="t" l="l"/>
            <a:pathLst>
              <a:path h="4114800" w="4455000">
                <a:moveTo>
                  <a:pt x="0" y="0"/>
                </a:moveTo>
                <a:lnTo>
                  <a:pt x="4455000" y="0"/>
                </a:lnTo>
                <a:lnTo>
                  <a:pt x="4455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37151" y="5332941"/>
            <a:ext cx="3970168" cy="400849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776313" y="1893366"/>
            <a:ext cx="10735374" cy="100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0"/>
              </a:lnSpc>
            </a:pPr>
            <a:r>
              <a:rPr lang="en-US" sz="7722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76627" y="3125881"/>
            <a:ext cx="11734746" cy="226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R</a:t>
            </a: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eal-time speech translation is challenging due to: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Latency constraints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Continuous audio streaming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Synchronization across modules</a:t>
            </a:r>
          </a:p>
          <a:p>
            <a:pPr algn="just">
              <a:lnSpc>
                <a:spcPts val="363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51422" y="1331079"/>
            <a:ext cx="4649946" cy="1859978"/>
          </a:xfrm>
          <a:custGeom>
            <a:avLst/>
            <a:gdLst/>
            <a:ahLst/>
            <a:cxnLst/>
            <a:rect r="r" b="b" t="t" l="l"/>
            <a:pathLst>
              <a:path h="1859978" w="4649946">
                <a:moveTo>
                  <a:pt x="4649946" y="0"/>
                </a:moveTo>
                <a:lnTo>
                  <a:pt x="0" y="0"/>
                </a:lnTo>
                <a:lnTo>
                  <a:pt x="0" y="1859978"/>
                </a:lnTo>
                <a:lnTo>
                  <a:pt x="4649946" y="1859978"/>
                </a:lnTo>
                <a:lnTo>
                  <a:pt x="464994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946173" y="3984230"/>
            <a:ext cx="4002591" cy="2801814"/>
          </a:xfrm>
          <a:custGeom>
            <a:avLst/>
            <a:gdLst/>
            <a:ahLst/>
            <a:cxnLst/>
            <a:rect r="r" b="b" t="t" l="l"/>
            <a:pathLst>
              <a:path h="2801814" w="4002591">
                <a:moveTo>
                  <a:pt x="4002591" y="0"/>
                </a:moveTo>
                <a:lnTo>
                  <a:pt x="0" y="0"/>
                </a:lnTo>
                <a:lnTo>
                  <a:pt x="0" y="2801814"/>
                </a:lnTo>
                <a:lnTo>
                  <a:pt x="4002591" y="2801814"/>
                </a:lnTo>
                <a:lnTo>
                  <a:pt x="400259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46714" y="6876867"/>
            <a:ext cx="3004101" cy="2381433"/>
          </a:xfrm>
          <a:custGeom>
            <a:avLst/>
            <a:gdLst/>
            <a:ahLst/>
            <a:cxnLst/>
            <a:rect r="r" b="b" t="t" l="l"/>
            <a:pathLst>
              <a:path h="2381433" w="3004101">
                <a:moveTo>
                  <a:pt x="0" y="0"/>
                </a:moveTo>
                <a:lnTo>
                  <a:pt x="3004101" y="0"/>
                </a:lnTo>
                <a:lnTo>
                  <a:pt x="3004101" y="2381433"/>
                </a:lnTo>
                <a:lnTo>
                  <a:pt x="0" y="23814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620357" y="437241"/>
            <a:ext cx="7012626" cy="194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0"/>
              </a:lnSpc>
            </a:pPr>
            <a:r>
              <a:rPr lang="en-US" sz="7722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Design and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99507" y="2753405"/>
            <a:ext cx="8947662" cy="6981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2"/>
              </a:lnSpc>
            </a:pPr>
            <a:r>
              <a:rPr lang="en-US" sz="265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Architectu</a:t>
            </a:r>
            <a:r>
              <a:rPr lang="en-US" sz="265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re Overview:</a:t>
            </a:r>
          </a:p>
          <a:p>
            <a:pPr algn="l" marL="572538" indent="-286269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Each module in the system runs as an independent stage.</a:t>
            </a:r>
          </a:p>
          <a:p>
            <a:pPr algn="l" marL="572538" indent="-286269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The core pipeline manages the execution and communication between stages via queues.</a:t>
            </a:r>
          </a:p>
          <a:p>
            <a:pPr algn="just">
              <a:lnSpc>
                <a:spcPts val="3712"/>
              </a:lnSpc>
            </a:pPr>
            <a:r>
              <a:rPr lang="en-US" sz="265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Modules:</a:t>
            </a:r>
          </a:p>
          <a:p>
            <a:pPr algn="l" marL="572538" indent="-286269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Microphone (input capture)</a:t>
            </a:r>
          </a:p>
          <a:p>
            <a:pPr algn="l" marL="572538" indent="-286269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ASR (speech-to-text)</a:t>
            </a:r>
          </a:p>
          <a:p>
            <a:pPr algn="l" marL="572538" indent="-286269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Translation (language conversion)</a:t>
            </a:r>
          </a:p>
          <a:p>
            <a:pPr algn="l" marL="572538" indent="-286269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TTS (text-to-speech output)</a:t>
            </a:r>
          </a:p>
          <a:p>
            <a:pPr algn="just">
              <a:lnSpc>
                <a:spcPts val="3712"/>
              </a:lnSpc>
            </a:pPr>
            <a:r>
              <a:rPr lang="en-US" sz="265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Benefits of Architecture:</a:t>
            </a:r>
          </a:p>
          <a:p>
            <a:pPr algn="l" marL="572538" indent="-286269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Non-blocking execution ensures minimal latency.</a:t>
            </a:r>
          </a:p>
          <a:p>
            <a:pPr algn="l" marL="572538" indent="-286269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Loose coupling allows modules to be easily swapped or upgraded.</a:t>
            </a:r>
          </a:p>
          <a:p>
            <a:pPr algn="just">
              <a:lnSpc>
                <a:spcPts val="3712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963426" y="-130570"/>
            <a:ext cx="2872879" cy="4114800"/>
          </a:xfrm>
          <a:custGeom>
            <a:avLst/>
            <a:gdLst/>
            <a:ahLst/>
            <a:cxnLst/>
            <a:rect r="r" b="b" t="t" l="l"/>
            <a:pathLst>
              <a:path h="4114800" w="2872879">
                <a:moveTo>
                  <a:pt x="0" y="0"/>
                </a:moveTo>
                <a:lnTo>
                  <a:pt x="2872879" y="0"/>
                </a:lnTo>
                <a:lnTo>
                  <a:pt x="28728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36691" y="-1629454"/>
            <a:ext cx="7122609" cy="6772954"/>
          </a:xfrm>
          <a:custGeom>
            <a:avLst/>
            <a:gdLst/>
            <a:ahLst/>
            <a:cxnLst/>
            <a:rect r="r" b="b" t="t" l="l"/>
            <a:pathLst>
              <a:path h="6772954" w="7122609">
                <a:moveTo>
                  <a:pt x="0" y="0"/>
                </a:moveTo>
                <a:lnTo>
                  <a:pt x="7122609" y="0"/>
                </a:lnTo>
                <a:lnTo>
                  <a:pt x="7122609" y="6772954"/>
                </a:lnTo>
                <a:lnTo>
                  <a:pt x="0" y="67729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6990367" y="6223375"/>
            <a:ext cx="12608990" cy="7634170"/>
          </a:xfrm>
          <a:custGeom>
            <a:avLst/>
            <a:gdLst/>
            <a:ahLst/>
            <a:cxnLst/>
            <a:rect r="r" b="b" t="t" l="l"/>
            <a:pathLst>
              <a:path h="7634170" w="12608990">
                <a:moveTo>
                  <a:pt x="12608990" y="0"/>
                </a:moveTo>
                <a:lnTo>
                  <a:pt x="0" y="0"/>
                </a:lnTo>
                <a:lnTo>
                  <a:pt x="0" y="7634170"/>
                </a:lnTo>
                <a:lnTo>
                  <a:pt x="12608990" y="7634170"/>
                </a:lnTo>
                <a:lnTo>
                  <a:pt x="1260899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15018" y="6223375"/>
            <a:ext cx="2420925" cy="1465760"/>
          </a:xfrm>
          <a:custGeom>
            <a:avLst/>
            <a:gdLst/>
            <a:ahLst/>
            <a:cxnLst/>
            <a:rect r="r" b="b" t="t" l="l"/>
            <a:pathLst>
              <a:path h="1465760" w="2420925">
                <a:moveTo>
                  <a:pt x="0" y="0"/>
                </a:moveTo>
                <a:lnTo>
                  <a:pt x="2420925" y="0"/>
                </a:lnTo>
                <a:lnTo>
                  <a:pt x="2420925" y="1465760"/>
                </a:lnTo>
                <a:lnTo>
                  <a:pt x="0" y="1465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59386" y="6682922"/>
            <a:ext cx="4644124" cy="2575378"/>
          </a:xfrm>
          <a:custGeom>
            <a:avLst/>
            <a:gdLst/>
            <a:ahLst/>
            <a:cxnLst/>
            <a:rect r="r" b="b" t="t" l="l"/>
            <a:pathLst>
              <a:path h="2575378" w="4644124">
                <a:moveTo>
                  <a:pt x="0" y="0"/>
                </a:moveTo>
                <a:lnTo>
                  <a:pt x="4644125" y="0"/>
                </a:lnTo>
                <a:lnTo>
                  <a:pt x="4644125" y="2575378"/>
                </a:lnTo>
                <a:lnTo>
                  <a:pt x="0" y="25753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80067" y="5602711"/>
            <a:ext cx="1358466" cy="2707087"/>
          </a:xfrm>
          <a:custGeom>
            <a:avLst/>
            <a:gdLst/>
            <a:ahLst/>
            <a:cxnLst/>
            <a:rect r="r" b="b" t="t" l="l"/>
            <a:pathLst>
              <a:path h="2707087" w="1358466">
                <a:moveTo>
                  <a:pt x="0" y="0"/>
                </a:moveTo>
                <a:lnTo>
                  <a:pt x="1358466" y="0"/>
                </a:lnTo>
                <a:lnTo>
                  <a:pt x="1358466" y="2707088"/>
                </a:lnTo>
                <a:lnTo>
                  <a:pt x="0" y="27070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67813" y="1780692"/>
            <a:ext cx="7012626" cy="194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0"/>
              </a:lnSpc>
            </a:pPr>
            <a:r>
              <a:rPr lang="en-US" sz="7722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Repository Structure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2148" y="18731"/>
            <a:ext cx="1773105" cy="4114800"/>
          </a:xfrm>
          <a:custGeom>
            <a:avLst/>
            <a:gdLst/>
            <a:ahLst/>
            <a:cxnLst/>
            <a:rect r="r" b="b" t="t" l="l"/>
            <a:pathLst>
              <a:path h="4114800" w="1773105">
                <a:moveTo>
                  <a:pt x="0" y="0"/>
                </a:moveTo>
                <a:lnTo>
                  <a:pt x="1773104" y="0"/>
                </a:lnTo>
                <a:lnTo>
                  <a:pt x="17731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908551"/>
            <a:ext cx="9678325" cy="458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1"/>
              </a:lnSpc>
            </a:pPr>
            <a:r>
              <a:rPr lang="en-US" sz="262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spe</a:t>
            </a:r>
            <a:r>
              <a:rPr lang="en-US" sz="262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ech-pipeline/</a:t>
            </a:r>
          </a:p>
          <a:p>
            <a:pPr algn="just">
              <a:lnSpc>
                <a:spcPts val="3671"/>
              </a:lnSpc>
            </a:pPr>
            <a:r>
              <a:rPr lang="en-US" sz="262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├── core/</a:t>
            </a:r>
          </a:p>
          <a:p>
            <a:pPr algn="just">
              <a:lnSpc>
                <a:spcPts val="3671"/>
              </a:lnSpc>
            </a:pPr>
            <a:r>
              <a:rPr lang="en-US" sz="262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│  ├── stage.py       # Base stage class for all modules</a:t>
            </a:r>
          </a:p>
          <a:p>
            <a:pPr algn="just">
              <a:lnSpc>
                <a:spcPts val="3671"/>
              </a:lnSpc>
            </a:pPr>
            <a:r>
              <a:rPr lang="en-US" sz="262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│  ├── pipeline.py    # Pipeline controller</a:t>
            </a:r>
          </a:p>
          <a:p>
            <a:pPr algn="just">
              <a:lnSpc>
                <a:spcPts val="3671"/>
              </a:lnSpc>
            </a:pPr>
            <a:r>
              <a:rPr lang="en-US" sz="262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├── audio/</a:t>
            </a:r>
          </a:p>
          <a:p>
            <a:pPr algn="just">
              <a:lnSpc>
                <a:spcPts val="3671"/>
              </a:lnSpc>
            </a:pPr>
            <a:r>
              <a:rPr lang="en-US" sz="262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│  └── mic.py         # Microphone streaming input</a:t>
            </a:r>
          </a:p>
          <a:p>
            <a:pPr algn="just">
              <a:lnSpc>
                <a:spcPts val="3671"/>
              </a:lnSpc>
            </a:pPr>
            <a:r>
              <a:rPr lang="en-US" sz="262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├── asr/</a:t>
            </a:r>
          </a:p>
          <a:p>
            <a:pPr algn="just">
              <a:lnSpc>
                <a:spcPts val="3671"/>
              </a:lnSpc>
            </a:pPr>
            <a:r>
              <a:rPr lang="en-US" sz="262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│  └── dummy_asr.py   # Placeholder recognizer</a:t>
            </a:r>
          </a:p>
          <a:p>
            <a:pPr algn="just">
              <a:lnSpc>
                <a:spcPts val="3671"/>
              </a:lnSpc>
            </a:pPr>
            <a:r>
              <a:rPr lang="en-US" sz="262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└── main.py            # Entry point</a:t>
            </a:r>
          </a:p>
          <a:p>
            <a:pPr algn="just">
              <a:lnSpc>
                <a:spcPts val="367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21742" y="-1450502"/>
            <a:ext cx="4691619" cy="6633394"/>
          </a:xfrm>
          <a:custGeom>
            <a:avLst/>
            <a:gdLst/>
            <a:ahLst/>
            <a:cxnLst/>
            <a:rect r="r" b="b" t="t" l="l"/>
            <a:pathLst>
              <a:path h="6633394" w="4691619">
                <a:moveTo>
                  <a:pt x="4691619" y="0"/>
                </a:moveTo>
                <a:lnTo>
                  <a:pt x="0" y="0"/>
                </a:lnTo>
                <a:lnTo>
                  <a:pt x="0" y="6633395"/>
                </a:lnTo>
                <a:lnTo>
                  <a:pt x="4691619" y="6633395"/>
                </a:lnTo>
                <a:lnTo>
                  <a:pt x="469161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659595" y="6495889"/>
            <a:ext cx="12421773" cy="7520819"/>
          </a:xfrm>
          <a:custGeom>
            <a:avLst/>
            <a:gdLst/>
            <a:ahLst/>
            <a:cxnLst/>
            <a:rect r="r" b="b" t="t" l="l"/>
            <a:pathLst>
              <a:path h="7520819" w="12421773">
                <a:moveTo>
                  <a:pt x="0" y="0"/>
                </a:moveTo>
                <a:lnTo>
                  <a:pt x="12421773" y="0"/>
                </a:lnTo>
                <a:lnTo>
                  <a:pt x="12421773" y="7520819"/>
                </a:lnTo>
                <a:lnTo>
                  <a:pt x="0" y="75208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04404" y="3694146"/>
            <a:ext cx="4974585" cy="3482210"/>
          </a:xfrm>
          <a:custGeom>
            <a:avLst/>
            <a:gdLst/>
            <a:ahLst/>
            <a:cxnLst/>
            <a:rect r="r" b="b" t="t" l="l"/>
            <a:pathLst>
              <a:path h="3482210" w="4974585">
                <a:moveTo>
                  <a:pt x="4974585" y="0"/>
                </a:moveTo>
                <a:lnTo>
                  <a:pt x="0" y="0"/>
                </a:lnTo>
                <a:lnTo>
                  <a:pt x="0" y="3482209"/>
                </a:lnTo>
                <a:lnTo>
                  <a:pt x="4974585" y="3482209"/>
                </a:lnTo>
                <a:lnTo>
                  <a:pt x="497458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2798947" y="6956286"/>
            <a:ext cx="5285411" cy="1662502"/>
          </a:xfrm>
          <a:custGeom>
            <a:avLst/>
            <a:gdLst/>
            <a:ahLst/>
            <a:cxnLst/>
            <a:rect r="r" b="b" t="t" l="l"/>
            <a:pathLst>
              <a:path h="1662502" w="5285411">
                <a:moveTo>
                  <a:pt x="5285411" y="0"/>
                </a:moveTo>
                <a:lnTo>
                  <a:pt x="0" y="0"/>
                </a:lnTo>
                <a:lnTo>
                  <a:pt x="0" y="1662502"/>
                </a:lnTo>
                <a:lnTo>
                  <a:pt x="5285411" y="1662502"/>
                </a:lnTo>
                <a:lnTo>
                  <a:pt x="5285411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22992" y="-1026771"/>
            <a:ext cx="3472616" cy="4216201"/>
          </a:xfrm>
          <a:custGeom>
            <a:avLst/>
            <a:gdLst/>
            <a:ahLst/>
            <a:cxnLst/>
            <a:rect r="r" b="b" t="t" l="l"/>
            <a:pathLst>
              <a:path h="4216201" w="3472616">
                <a:moveTo>
                  <a:pt x="0" y="0"/>
                </a:moveTo>
                <a:lnTo>
                  <a:pt x="3472616" y="0"/>
                </a:lnTo>
                <a:lnTo>
                  <a:pt x="3472616" y="4216201"/>
                </a:lnTo>
                <a:lnTo>
                  <a:pt x="0" y="42162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6956286"/>
            <a:ext cx="1088552" cy="2057400"/>
          </a:xfrm>
          <a:custGeom>
            <a:avLst/>
            <a:gdLst/>
            <a:ahLst/>
            <a:cxnLst/>
            <a:rect r="r" b="b" t="t" l="l"/>
            <a:pathLst>
              <a:path h="2057400" w="1088552">
                <a:moveTo>
                  <a:pt x="0" y="0"/>
                </a:moveTo>
                <a:lnTo>
                  <a:pt x="1088552" y="0"/>
                </a:lnTo>
                <a:lnTo>
                  <a:pt x="108855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22459" y="859571"/>
            <a:ext cx="9653872" cy="100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0"/>
              </a:lnSpc>
            </a:pPr>
            <a:r>
              <a:rPr lang="en-US" sz="772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How the Pipeline Works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84358" y="2544649"/>
            <a:ext cx="9852215" cy="560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37"/>
              </a:lnSpc>
            </a:pPr>
            <a:r>
              <a:rPr lang="en-US" sz="266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</a:t>
            </a:r>
            <a:r>
              <a:rPr lang="en-US" sz="266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odular Pipeline:</a:t>
            </a:r>
          </a:p>
          <a:p>
            <a:pPr algn="l" marL="576314" indent="-288157" lvl="1">
              <a:lnSpc>
                <a:spcPts val="3737"/>
              </a:lnSpc>
              <a:buFont typeface="Arial"/>
              <a:buChar char="•"/>
            </a:pPr>
            <a:r>
              <a:rPr lang="en-US" sz="266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Each stage in the pipeline follows the same contract:  input → process → output</a:t>
            </a:r>
          </a:p>
          <a:p>
            <a:pPr algn="just">
              <a:lnSpc>
                <a:spcPts val="3737"/>
              </a:lnSpc>
            </a:pPr>
            <a:r>
              <a:rPr lang="en-US" sz="266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Stages and Execution:</a:t>
            </a:r>
          </a:p>
          <a:p>
            <a:pPr algn="l" marL="576314" indent="-288157" lvl="1">
              <a:lnSpc>
                <a:spcPts val="3737"/>
              </a:lnSpc>
              <a:buFont typeface="Arial"/>
              <a:buChar char="•"/>
            </a:pPr>
            <a:r>
              <a:rPr lang="en-US" sz="266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Data is passed between stages via queues, ensuring smooth and non-blocking execution.</a:t>
            </a:r>
          </a:p>
          <a:p>
            <a:pPr algn="just">
              <a:lnSpc>
                <a:spcPts val="3737"/>
              </a:lnSpc>
            </a:pPr>
            <a:r>
              <a:rPr lang="en-US" sz="266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Data Flow Example :</a:t>
            </a:r>
          </a:p>
          <a:p>
            <a:pPr algn="l" marL="576314" indent="-288157" lvl="1">
              <a:lnSpc>
                <a:spcPts val="3737"/>
              </a:lnSpc>
              <a:buFont typeface="Arial"/>
              <a:buChar char="•"/>
            </a:pPr>
            <a:r>
              <a:rPr lang="en-US" sz="266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Microphone Capture: Captures live speech.</a:t>
            </a:r>
          </a:p>
          <a:p>
            <a:pPr algn="l" marL="576314" indent="-288157" lvl="1">
              <a:lnSpc>
                <a:spcPts val="3737"/>
              </a:lnSpc>
              <a:buFont typeface="Arial"/>
              <a:buChar char="•"/>
            </a:pPr>
            <a:r>
              <a:rPr lang="en-US" sz="266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ASR Stage: Converts speech to text</a:t>
            </a:r>
          </a:p>
          <a:p>
            <a:pPr algn="l" marL="576314" indent="-288157" lvl="1">
              <a:lnSpc>
                <a:spcPts val="3737"/>
              </a:lnSpc>
              <a:buFont typeface="Arial"/>
              <a:buChar char="•"/>
            </a:pPr>
            <a:r>
              <a:rPr lang="en-US" sz="266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Console Output: Displays recognized text in real-time.</a:t>
            </a:r>
          </a:p>
          <a:p>
            <a:pPr algn="l" marL="576314" indent="-288157" lvl="1">
              <a:lnSpc>
                <a:spcPts val="3737"/>
              </a:lnSpc>
              <a:buFont typeface="Arial"/>
              <a:buChar char="•"/>
            </a:pPr>
            <a:r>
              <a:rPr lang="en-US" sz="266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Output speech: real time converted text.</a:t>
            </a:r>
          </a:p>
          <a:p>
            <a:pPr algn="just">
              <a:lnSpc>
                <a:spcPts val="373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7506" y="3964241"/>
            <a:ext cx="5121635" cy="7738735"/>
          </a:xfrm>
          <a:custGeom>
            <a:avLst/>
            <a:gdLst/>
            <a:ahLst/>
            <a:cxnLst/>
            <a:rect r="r" b="b" t="t" l="l"/>
            <a:pathLst>
              <a:path h="7738735" w="5121635">
                <a:moveTo>
                  <a:pt x="0" y="0"/>
                </a:moveTo>
                <a:lnTo>
                  <a:pt x="5121636" y="0"/>
                </a:lnTo>
                <a:lnTo>
                  <a:pt x="5121636" y="7738735"/>
                </a:lnTo>
                <a:lnTo>
                  <a:pt x="0" y="7738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-60382"/>
            <a:ext cx="5799814" cy="1043967"/>
          </a:xfrm>
          <a:custGeom>
            <a:avLst/>
            <a:gdLst/>
            <a:ahLst/>
            <a:cxnLst/>
            <a:rect r="r" b="b" t="t" l="l"/>
            <a:pathLst>
              <a:path h="1043967" w="5799814">
                <a:moveTo>
                  <a:pt x="5799814" y="0"/>
                </a:moveTo>
                <a:lnTo>
                  <a:pt x="0" y="0"/>
                </a:lnTo>
                <a:lnTo>
                  <a:pt x="0" y="1043966"/>
                </a:lnTo>
                <a:lnTo>
                  <a:pt x="5799814" y="1043966"/>
                </a:lnTo>
                <a:lnTo>
                  <a:pt x="57998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650313" y="-60382"/>
            <a:ext cx="5799814" cy="1043967"/>
          </a:xfrm>
          <a:custGeom>
            <a:avLst/>
            <a:gdLst/>
            <a:ahLst/>
            <a:cxnLst/>
            <a:rect r="r" b="b" t="t" l="l"/>
            <a:pathLst>
              <a:path h="1043967" w="5799814">
                <a:moveTo>
                  <a:pt x="5799814" y="0"/>
                </a:moveTo>
                <a:lnTo>
                  <a:pt x="0" y="0"/>
                </a:lnTo>
                <a:lnTo>
                  <a:pt x="0" y="1043966"/>
                </a:lnTo>
                <a:lnTo>
                  <a:pt x="5799814" y="1043966"/>
                </a:lnTo>
                <a:lnTo>
                  <a:pt x="57998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80113" y="4354095"/>
            <a:ext cx="428307" cy="481736"/>
          </a:xfrm>
          <a:custGeom>
            <a:avLst/>
            <a:gdLst/>
            <a:ahLst/>
            <a:cxnLst/>
            <a:rect r="r" b="b" t="t" l="l"/>
            <a:pathLst>
              <a:path h="481736" w="428307">
                <a:moveTo>
                  <a:pt x="0" y="0"/>
                </a:moveTo>
                <a:lnTo>
                  <a:pt x="428307" y="0"/>
                </a:lnTo>
                <a:lnTo>
                  <a:pt x="428307" y="481736"/>
                </a:lnTo>
                <a:lnTo>
                  <a:pt x="0" y="481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80113" y="2957616"/>
            <a:ext cx="8072349" cy="100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0"/>
              </a:lnSpc>
            </a:pPr>
            <a:r>
              <a:rPr lang="en-US" sz="7722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Running the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61326" y="4306470"/>
            <a:ext cx="6542050" cy="424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In</a:t>
            </a:r>
            <a:r>
              <a:rPr lang="en-US" sz="27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stall Dependencies:</a:t>
            </a:r>
          </a:p>
          <a:p>
            <a:pPr algn="l" marL="583120" indent="-291560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pip install sounddevice vosk</a:t>
            </a:r>
          </a:p>
          <a:p>
            <a:pPr algn="just">
              <a:lnSpc>
                <a:spcPts val="3781"/>
              </a:lnSpc>
            </a:pPr>
            <a:r>
              <a:rPr lang="en-US" sz="27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Run the Project:</a:t>
            </a:r>
          </a:p>
          <a:p>
            <a:pPr algn="l" marL="583120" indent="-291560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python main.py</a:t>
            </a:r>
          </a:p>
          <a:p>
            <a:pPr algn="just">
              <a:lnSpc>
                <a:spcPts val="3781"/>
              </a:lnSpc>
            </a:pPr>
            <a:r>
              <a:rPr lang="en-US" sz="27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Expected Output:</a:t>
            </a:r>
          </a:p>
          <a:p>
            <a:pPr algn="l" marL="583120" indent="-291560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Running pipeline...</a:t>
            </a:r>
          </a:p>
          <a:p>
            <a:pPr algn="l" marL="583120" indent="-291560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TEXT: recognized speech chunk</a:t>
            </a:r>
          </a:p>
          <a:p>
            <a:pPr algn="l" marL="583120" indent="-291560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TEXT: recognized speech chunk</a:t>
            </a:r>
          </a:p>
          <a:p>
            <a:pPr algn="just">
              <a:lnSpc>
                <a:spcPts val="378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04697" y="6990461"/>
            <a:ext cx="3299766" cy="2267839"/>
          </a:xfrm>
          <a:custGeom>
            <a:avLst/>
            <a:gdLst/>
            <a:ahLst/>
            <a:cxnLst/>
            <a:rect r="r" b="b" t="t" l="l"/>
            <a:pathLst>
              <a:path h="2267839" w="3299766">
                <a:moveTo>
                  <a:pt x="0" y="0"/>
                </a:moveTo>
                <a:lnTo>
                  <a:pt x="3299765" y="0"/>
                </a:lnTo>
                <a:lnTo>
                  <a:pt x="3299765" y="2267839"/>
                </a:lnTo>
                <a:lnTo>
                  <a:pt x="0" y="2267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87197" y="630915"/>
            <a:ext cx="6902652" cy="6325339"/>
          </a:xfrm>
          <a:custGeom>
            <a:avLst/>
            <a:gdLst/>
            <a:ahLst/>
            <a:cxnLst/>
            <a:rect r="r" b="b" t="t" l="l"/>
            <a:pathLst>
              <a:path h="6325339" w="6902652">
                <a:moveTo>
                  <a:pt x="0" y="0"/>
                </a:moveTo>
                <a:lnTo>
                  <a:pt x="6902653" y="0"/>
                </a:lnTo>
                <a:lnTo>
                  <a:pt x="6902653" y="6325340"/>
                </a:lnTo>
                <a:lnTo>
                  <a:pt x="0" y="63253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28719" y="3754564"/>
            <a:ext cx="4430581" cy="5488556"/>
          </a:xfrm>
          <a:custGeom>
            <a:avLst/>
            <a:gdLst/>
            <a:ahLst/>
            <a:cxnLst/>
            <a:rect r="r" b="b" t="t" l="l"/>
            <a:pathLst>
              <a:path h="5488556" w="4430581">
                <a:moveTo>
                  <a:pt x="0" y="0"/>
                </a:moveTo>
                <a:lnTo>
                  <a:pt x="4430581" y="0"/>
                </a:lnTo>
                <a:lnTo>
                  <a:pt x="4430581" y="5488555"/>
                </a:lnTo>
                <a:lnTo>
                  <a:pt x="0" y="54885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28510" y="1190625"/>
            <a:ext cx="7476187" cy="289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0"/>
              </a:lnSpc>
            </a:pPr>
            <a:r>
              <a:rPr lang="en-US" sz="772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Phase 1 — Infrastructure (Completed)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51715"/>
            <a:ext cx="7647372" cy="417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837" indent="-284918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P</a:t>
            </a:r>
            <a:r>
              <a:rPr lang="en-US" sz="263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ipeline Engine: Core infrastructure for concurrent execution.</a:t>
            </a:r>
          </a:p>
          <a:p>
            <a:pPr algn="l" marL="569837" indent="-284918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Streaming Queues: Communication between stages via queues.</a:t>
            </a:r>
          </a:p>
          <a:p>
            <a:pPr algn="l" marL="569837" indent="-284918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Microphone Capture: Successfully capturing live audio input.</a:t>
            </a:r>
          </a:p>
          <a:p>
            <a:pPr algn="l" marL="569837" indent="-284918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Dummy ASR Integration: Placeholder ASR to validate system flow.</a:t>
            </a:r>
          </a:p>
          <a:p>
            <a:pPr algn="just">
              <a:lnSpc>
                <a:spcPts val="369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97511" y="2739887"/>
            <a:ext cx="5761199" cy="5174604"/>
          </a:xfrm>
          <a:custGeom>
            <a:avLst/>
            <a:gdLst/>
            <a:ahLst/>
            <a:cxnLst/>
            <a:rect r="r" b="b" t="t" l="l"/>
            <a:pathLst>
              <a:path h="5174604" w="5761199">
                <a:moveTo>
                  <a:pt x="5761198" y="0"/>
                </a:moveTo>
                <a:lnTo>
                  <a:pt x="0" y="0"/>
                </a:lnTo>
                <a:lnTo>
                  <a:pt x="0" y="5174604"/>
                </a:lnTo>
                <a:lnTo>
                  <a:pt x="5761198" y="5174604"/>
                </a:lnTo>
                <a:lnTo>
                  <a:pt x="576119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8826063" y="1231413"/>
            <a:ext cx="4393455" cy="2324537"/>
          </a:xfrm>
          <a:custGeom>
            <a:avLst/>
            <a:gdLst/>
            <a:ahLst/>
            <a:cxnLst/>
            <a:rect r="r" b="b" t="t" l="l"/>
            <a:pathLst>
              <a:path h="2324537" w="4393455">
                <a:moveTo>
                  <a:pt x="4393455" y="0"/>
                </a:moveTo>
                <a:lnTo>
                  <a:pt x="0" y="0"/>
                </a:lnTo>
                <a:lnTo>
                  <a:pt x="0" y="2324537"/>
                </a:lnTo>
                <a:lnTo>
                  <a:pt x="4393455" y="2324537"/>
                </a:lnTo>
                <a:lnTo>
                  <a:pt x="439345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75695" y="-657956"/>
            <a:ext cx="3112305" cy="3778737"/>
          </a:xfrm>
          <a:custGeom>
            <a:avLst/>
            <a:gdLst/>
            <a:ahLst/>
            <a:cxnLst/>
            <a:rect r="r" b="b" t="t" l="l"/>
            <a:pathLst>
              <a:path h="3778737" w="3112305">
                <a:moveTo>
                  <a:pt x="0" y="0"/>
                </a:moveTo>
                <a:lnTo>
                  <a:pt x="3112305" y="0"/>
                </a:lnTo>
                <a:lnTo>
                  <a:pt x="3112305" y="3778737"/>
                </a:lnTo>
                <a:lnTo>
                  <a:pt x="0" y="37787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26063" y="4364891"/>
            <a:ext cx="8691484" cy="194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0"/>
              </a:lnSpc>
            </a:pPr>
            <a:r>
              <a:rPr lang="en-US" sz="7722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Phase 2: Real Speech Recognition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26063" y="6409964"/>
            <a:ext cx="7012626" cy="1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R</a:t>
            </a: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eplaced the dummy ASR with a real ASR solution (e.g., Vosk).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Ensure real-time speech recognition.</a:t>
            </a:r>
          </a:p>
          <a:p>
            <a:pPr algn="just">
              <a:lnSpc>
                <a:spcPts val="363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04697" y="6990461"/>
            <a:ext cx="3299766" cy="2267839"/>
          </a:xfrm>
          <a:custGeom>
            <a:avLst/>
            <a:gdLst/>
            <a:ahLst/>
            <a:cxnLst/>
            <a:rect r="r" b="b" t="t" l="l"/>
            <a:pathLst>
              <a:path h="2267839" w="3299766">
                <a:moveTo>
                  <a:pt x="0" y="0"/>
                </a:moveTo>
                <a:lnTo>
                  <a:pt x="3299765" y="0"/>
                </a:lnTo>
                <a:lnTo>
                  <a:pt x="3299765" y="2267839"/>
                </a:lnTo>
                <a:lnTo>
                  <a:pt x="0" y="2267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87197" y="630915"/>
            <a:ext cx="6902652" cy="6325339"/>
          </a:xfrm>
          <a:custGeom>
            <a:avLst/>
            <a:gdLst/>
            <a:ahLst/>
            <a:cxnLst/>
            <a:rect r="r" b="b" t="t" l="l"/>
            <a:pathLst>
              <a:path h="6325339" w="6902652">
                <a:moveTo>
                  <a:pt x="0" y="0"/>
                </a:moveTo>
                <a:lnTo>
                  <a:pt x="6902653" y="0"/>
                </a:lnTo>
                <a:lnTo>
                  <a:pt x="6902653" y="6325340"/>
                </a:lnTo>
                <a:lnTo>
                  <a:pt x="0" y="63253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28719" y="3754564"/>
            <a:ext cx="4430581" cy="5488556"/>
          </a:xfrm>
          <a:custGeom>
            <a:avLst/>
            <a:gdLst/>
            <a:ahLst/>
            <a:cxnLst/>
            <a:rect r="r" b="b" t="t" l="l"/>
            <a:pathLst>
              <a:path h="5488556" w="4430581">
                <a:moveTo>
                  <a:pt x="0" y="0"/>
                </a:moveTo>
                <a:lnTo>
                  <a:pt x="4430581" y="0"/>
                </a:lnTo>
                <a:lnTo>
                  <a:pt x="4430581" y="5488555"/>
                </a:lnTo>
                <a:lnTo>
                  <a:pt x="0" y="54885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7813" y="2688114"/>
            <a:ext cx="7476187" cy="194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0"/>
              </a:lnSpc>
            </a:pPr>
            <a:r>
              <a:rPr lang="en-US" sz="772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Phase 3: Translation Stage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7813" y="5932635"/>
            <a:ext cx="6791706" cy="1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Add</a:t>
            </a: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ed a translation module to convert recognized speech into a different language.</a:t>
            </a:r>
          </a:p>
          <a:p>
            <a:pPr algn="just">
              <a:lnSpc>
                <a:spcPts val="363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97511" y="2739887"/>
            <a:ext cx="5761199" cy="5174604"/>
          </a:xfrm>
          <a:custGeom>
            <a:avLst/>
            <a:gdLst/>
            <a:ahLst/>
            <a:cxnLst/>
            <a:rect r="r" b="b" t="t" l="l"/>
            <a:pathLst>
              <a:path h="5174604" w="5761199">
                <a:moveTo>
                  <a:pt x="5761198" y="0"/>
                </a:moveTo>
                <a:lnTo>
                  <a:pt x="0" y="0"/>
                </a:lnTo>
                <a:lnTo>
                  <a:pt x="0" y="5174604"/>
                </a:lnTo>
                <a:lnTo>
                  <a:pt x="5761198" y="5174604"/>
                </a:lnTo>
                <a:lnTo>
                  <a:pt x="576119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8826063" y="1231413"/>
            <a:ext cx="4393455" cy="2324537"/>
          </a:xfrm>
          <a:custGeom>
            <a:avLst/>
            <a:gdLst/>
            <a:ahLst/>
            <a:cxnLst/>
            <a:rect r="r" b="b" t="t" l="l"/>
            <a:pathLst>
              <a:path h="2324537" w="4393455">
                <a:moveTo>
                  <a:pt x="4393455" y="0"/>
                </a:moveTo>
                <a:lnTo>
                  <a:pt x="0" y="0"/>
                </a:lnTo>
                <a:lnTo>
                  <a:pt x="0" y="2324537"/>
                </a:lnTo>
                <a:lnTo>
                  <a:pt x="4393455" y="2324537"/>
                </a:lnTo>
                <a:lnTo>
                  <a:pt x="439345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75695" y="-657956"/>
            <a:ext cx="3112305" cy="3778737"/>
          </a:xfrm>
          <a:custGeom>
            <a:avLst/>
            <a:gdLst/>
            <a:ahLst/>
            <a:cxnLst/>
            <a:rect r="r" b="b" t="t" l="l"/>
            <a:pathLst>
              <a:path h="3778737" w="3112305">
                <a:moveTo>
                  <a:pt x="0" y="0"/>
                </a:moveTo>
                <a:lnTo>
                  <a:pt x="3112305" y="0"/>
                </a:lnTo>
                <a:lnTo>
                  <a:pt x="3112305" y="3778737"/>
                </a:lnTo>
                <a:lnTo>
                  <a:pt x="0" y="37787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56601" y="4364891"/>
            <a:ext cx="10230861" cy="194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0"/>
              </a:lnSpc>
            </a:pPr>
            <a:r>
              <a:rPr lang="en-US" sz="7722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Phase 4: Speech Synthesis  (in progress)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26063" y="6409964"/>
            <a:ext cx="7012626" cy="1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Im</a:t>
            </a: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plemented TTS (Text-to-Speech) for converting translated text into speech.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Now Focusing on buffering, and smooth streaming.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04697" y="6990461"/>
            <a:ext cx="3299766" cy="2267839"/>
          </a:xfrm>
          <a:custGeom>
            <a:avLst/>
            <a:gdLst/>
            <a:ahLst/>
            <a:cxnLst/>
            <a:rect r="r" b="b" t="t" l="l"/>
            <a:pathLst>
              <a:path h="2267839" w="3299766">
                <a:moveTo>
                  <a:pt x="0" y="0"/>
                </a:moveTo>
                <a:lnTo>
                  <a:pt x="3299765" y="0"/>
                </a:lnTo>
                <a:lnTo>
                  <a:pt x="3299765" y="2267839"/>
                </a:lnTo>
                <a:lnTo>
                  <a:pt x="0" y="2267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87197" y="630915"/>
            <a:ext cx="6902652" cy="6325339"/>
          </a:xfrm>
          <a:custGeom>
            <a:avLst/>
            <a:gdLst/>
            <a:ahLst/>
            <a:cxnLst/>
            <a:rect r="r" b="b" t="t" l="l"/>
            <a:pathLst>
              <a:path h="6325339" w="6902652">
                <a:moveTo>
                  <a:pt x="0" y="0"/>
                </a:moveTo>
                <a:lnTo>
                  <a:pt x="6902653" y="0"/>
                </a:lnTo>
                <a:lnTo>
                  <a:pt x="6902653" y="6325340"/>
                </a:lnTo>
                <a:lnTo>
                  <a:pt x="0" y="63253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28719" y="3754564"/>
            <a:ext cx="4430581" cy="5488556"/>
          </a:xfrm>
          <a:custGeom>
            <a:avLst/>
            <a:gdLst/>
            <a:ahLst/>
            <a:cxnLst/>
            <a:rect r="r" b="b" t="t" l="l"/>
            <a:pathLst>
              <a:path h="5488556" w="4430581">
                <a:moveTo>
                  <a:pt x="0" y="0"/>
                </a:moveTo>
                <a:lnTo>
                  <a:pt x="4430581" y="0"/>
                </a:lnTo>
                <a:lnTo>
                  <a:pt x="4430581" y="5488555"/>
                </a:lnTo>
                <a:lnTo>
                  <a:pt x="0" y="54885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7813" y="2688114"/>
            <a:ext cx="7476187" cy="194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0"/>
              </a:lnSpc>
            </a:pPr>
            <a:r>
              <a:rPr lang="en-US" sz="772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Phase 5: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7813" y="5932635"/>
            <a:ext cx="6791706" cy="89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Add</a:t>
            </a: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live system monitor</a:t>
            </a:r>
          </a:p>
          <a:p>
            <a:pPr algn="just">
              <a:lnSpc>
                <a:spcPts val="363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21742" y="-1450502"/>
            <a:ext cx="4691619" cy="6633394"/>
          </a:xfrm>
          <a:custGeom>
            <a:avLst/>
            <a:gdLst/>
            <a:ahLst/>
            <a:cxnLst/>
            <a:rect r="r" b="b" t="t" l="l"/>
            <a:pathLst>
              <a:path h="6633394" w="4691619">
                <a:moveTo>
                  <a:pt x="4691619" y="0"/>
                </a:moveTo>
                <a:lnTo>
                  <a:pt x="0" y="0"/>
                </a:lnTo>
                <a:lnTo>
                  <a:pt x="0" y="6633395"/>
                </a:lnTo>
                <a:lnTo>
                  <a:pt x="4691619" y="6633395"/>
                </a:lnTo>
                <a:lnTo>
                  <a:pt x="469161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659595" y="6382538"/>
            <a:ext cx="12608990" cy="7634170"/>
          </a:xfrm>
          <a:custGeom>
            <a:avLst/>
            <a:gdLst/>
            <a:ahLst/>
            <a:cxnLst/>
            <a:rect r="r" b="b" t="t" l="l"/>
            <a:pathLst>
              <a:path h="7634170" w="12608990">
                <a:moveTo>
                  <a:pt x="0" y="0"/>
                </a:moveTo>
                <a:lnTo>
                  <a:pt x="12608990" y="0"/>
                </a:lnTo>
                <a:lnTo>
                  <a:pt x="12608990" y="7634170"/>
                </a:lnTo>
                <a:lnTo>
                  <a:pt x="0" y="76341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04404" y="3189430"/>
            <a:ext cx="5695607" cy="3986925"/>
          </a:xfrm>
          <a:custGeom>
            <a:avLst/>
            <a:gdLst/>
            <a:ahLst/>
            <a:cxnLst/>
            <a:rect r="r" b="b" t="t" l="l"/>
            <a:pathLst>
              <a:path h="3986925" w="5695607">
                <a:moveTo>
                  <a:pt x="5695607" y="0"/>
                </a:moveTo>
                <a:lnTo>
                  <a:pt x="0" y="0"/>
                </a:lnTo>
                <a:lnTo>
                  <a:pt x="0" y="3986925"/>
                </a:lnTo>
                <a:lnTo>
                  <a:pt x="5695607" y="3986925"/>
                </a:lnTo>
                <a:lnTo>
                  <a:pt x="569560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2798947" y="6956286"/>
            <a:ext cx="5285411" cy="1662502"/>
          </a:xfrm>
          <a:custGeom>
            <a:avLst/>
            <a:gdLst/>
            <a:ahLst/>
            <a:cxnLst/>
            <a:rect r="r" b="b" t="t" l="l"/>
            <a:pathLst>
              <a:path h="1662502" w="5285411">
                <a:moveTo>
                  <a:pt x="5285411" y="0"/>
                </a:moveTo>
                <a:lnTo>
                  <a:pt x="0" y="0"/>
                </a:lnTo>
                <a:lnTo>
                  <a:pt x="0" y="1662502"/>
                </a:lnTo>
                <a:lnTo>
                  <a:pt x="5285411" y="1662502"/>
                </a:lnTo>
                <a:lnTo>
                  <a:pt x="5285411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22992" y="-1026771"/>
            <a:ext cx="3472616" cy="4216201"/>
          </a:xfrm>
          <a:custGeom>
            <a:avLst/>
            <a:gdLst/>
            <a:ahLst/>
            <a:cxnLst/>
            <a:rect r="r" b="b" t="t" l="l"/>
            <a:pathLst>
              <a:path h="4216201" w="3472616">
                <a:moveTo>
                  <a:pt x="0" y="0"/>
                </a:moveTo>
                <a:lnTo>
                  <a:pt x="3472616" y="0"/>
                </a:lnTo>
                <a:lnTo>
                  <a:pt x="3472616" y="4216201"/>
                </a:lnTo>
                <a:lnTo>
                  <a:pt x="0" y="42162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6956286"/>
            <a:ext cx="1088552" cy="2057400"/>
          </a:xfrm>
          <a:custGeom>
            <a:avLst/>
            <a:gdLst/>
            <a:ahLst/>
            <a:cxnLst/>
            <a:rect r="r" b="b" t="t" l="l"/>
            <a:pathLst>
              <a:path h="2057400" w="1088552">
                <a:moveTo>
                  <a:pt x="0" y="0"/>
                </a:moveTo>
                <a:lnTo>
                  <a:pt x="1088552" y="0"/>
                </a:lnTo>
                <a:lnTo>
                  <a:pt x="108855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32601" y="2250925"/>
            <a:ext cx="7012626" cy="100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0"/>
              </a:lnSpc>
            </a:pPr>
            <a:r>
              <a:rPr lang="en-US" sz="7722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Key Challenges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32601" y="4572152"/>
            <a:ext cx="7012626" cy="1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Ch</a:t>
            </a: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allenge 1: Real-time Processing Latency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Challenge 2: Accuracy of ASR (Dummy)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Challenge 3: Managing Synchronization Between Stages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36691" y="-1629454"/>
            <a:ext cx="7122609" cy="6772954"/>
          </a:xfrm>
          <a:custGeom>
            <a:avLst/>
            <a:gdLst/>
            <a:ahLst/>
            <a:cxnLst/>
            <a:rect r="r" b="b" t="t" l="l"/>
            <a:pathLst>
              <a:path h="6772954" w="7122609">
                <a:moveTo>
                  <a:pt x="0" y="0"/>
                </a:moveTo>
                <a:lnTo>
                  <a:pt x="7122609" y="0"/>
                </a:lnTo>
                <a:lnTo>
                  <a:pt x="7122609" y="6772954"/>
                </a:lnTo>
                <a:lnTo>
                  <a:pt x="0" y="67729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6990367" y="6223375"/>
            <a:ext cx="12608990" cy="7634170"/>
          </a:xfrm>
          <a:custGeom>
            <a:avLst/>
            <a:gdLst/>
            <a:ahLst/>
            <a:cxnLst/>
            <a:rect r="r" b="b" t="t" l="l"/>
            <a:pathLst>
              <a:path h="7634170" w="12608990">
                <a:moveTo>
                  <a:pt x="12608990" y="0"/>
                </a:moveTo>
                <a:lnTo>
                  <a:pt x="0" y="0"/>
                </a:lnTo>
                <a:lnTo>
                  <a:pt x="0" y="7634170"/>
                </a:lnTo>
                <a:lnTo>
                  <a:pt x="12608990" y="7634170"/>
                </a:lnTo>
                <a:lnTo>
                  <a:pt x="1260899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15018" y="6223375"/>
            <a:ext cx="2420925" cy="1465760"/>
          </a:xfrm>
          <a:custGeom>
            <a:avLst/>
            <a:gdLst/>
            <a:ahLst/>
            <a:cxnLst/>
            <a:rect r="r" b="b" t="t" l="l"/>
            <a:pathLst>
              <a:path h="1465760" w="2420925">
                <a:moveTo>
                  <a:pt x="0" y="0"/>
                </a:moveTo>
                <a:lnTo>
                  <a:pt x="2420925" y="0"/>
                </a:lnTo>
                <a:lnTo>
                  <a:pt x="2420925" y="1465760"/>
                </a:lnTo>
                <a:lnTo>
                  <a:pt x="0" y="1465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59386" y="6682922"/>
            <a:ext cx="4644124" cy="2575378"/>
          </a:xfrm>
          <a:custGeom>
            <a:avLst/>
            <a:gdLst/>
            <a:ahLst/>
            <a:cxnLst/>
            <a:rect r="r" b="b" t="t" l="l"/>
            <a:pathLst>
              <a:path h="2575378" w="4644124">
                <a:moveTo>
                  <a:pt x="0" y="0"/>
                </a:moveTo>
                <a:lnTo>
                  <a:pt x="4644125" y="0"/>
                </a:lnTo>
                <a:lnTo>
                  <a:pt x="4644125" y="2575378"/>
                </a:lnTo>
                <a:lnTo>
                  <a:pt x="0" y="25753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80067" y="5602711"/>
            <a:ext cx="1358466" cy="2707087"/>
          </a:xfrm>
          <a:custGeom>
            <a:avLst/>
            <a:gdLst/>
            <a:ahLst/>
            <a:cxnLst/>
            <a:rect r="r" b="b" t="t" l="l"/>
            <a:pathLst>
              <a:path h="2707087" w="1358466">
                <a:moveTo>
                  <a:pt x="0" y="0"/>
                </a:moveTo>
                <a:lnTo>
                  <a:pt x="1358466" y="0"/>
                </a:lnTo>
                <a:lnTo>
                  <a:pt x="1358466" y="2707088"/>
                </a:lnTo>
                <a:lnTo>
                  <a:pt x="0" y="27070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19659" y="1334673"/>
            <a:ext cx="7012626" cy="100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0"/>
              </a:lnSpc>
            </a:pPr>
            <a:r>
              <a:rPr lang="en-US" sz="7722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Conclusion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2148" y="18731"/>
            <a:ext cx="1773105" cy="4114800"/>
          </a:xfrm>
          <a:custGeom>
            <a:avLst/>
            <a:gdLst/>
            <a:ahLst/>
            <a:cxnLst/>
            <a:rect r="r" b="b" t="t" l="l"/>
            <a:pathLst>
              <a:path h="4114800" w="1773105">
                <a:moveTo>
                  <a:pt x="0" y="0"/>
                </a:moveTo>
                <a:lnTo>
                  <a:pt x="1773104" y="0"/>
                </a:lnTo>
                <a:lnTo>
                  <a:pt x="17731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43734" y="3073506"/>
            <a:ext cx="7012626" cy="5010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Summary: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W</a:t>
            </a: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e'v</a:t>
            </a: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e established the core infrastructure for the real-time speech-to-speech translation system.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The current system works with live microphone input.</a:t>
            </a: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Next Milestones: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Translation improvement.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TTS for real-time speech improvement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GUI integration</a:t>
            </a:r>
          </a:p>
          <a:p>
            <a:pPr algn="just">
              <a:lnSpc>
                <a:spcPts val="363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10101" y="1521548"/>
            <a:ext cx="5022435" cy="7101130"/>
          </a:xfrm>
          <a:custGeom>
            <a:avLst/>
            <a:gdLst/>
            <a:ahLst/>
            <a:cxnLst/>
            <a:rect r="r" b="b" t="t" l="l"/>
            <a:pathLst>
              <a:path h="7101130" w="5022435">
                <a:moveTo>
                  <a:pt x="0" y="0"/>
                </a:moveTo>
                <a:lnTo>
                  <a:pt x="5022435" y="0"/>
                </a:lnTo>
                <a:lnTo>
                  <a:pt x="5022435" y="7101130"/>
                </a:lnTo>
                <a:lnTo>
                  <a:pt x="0" y="7101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67813" y="4264649"/>
            <a:ext cx="11716778" cy="190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34"/>
              </a:lnSpc>
            </a:pPr>
            <a:r>
              <a:rPr lang="en-US" sz="14571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667813" y="1147814"/>
            <a:ext cx="4637037" cy="1736781"/>
          </a:xfrm>
          <a:custGeom>
            <a:avLst/>
            <a:gdLst/>
            <a:ahLst/>
            <a:cxnLst/>
            <a:rect r="r" b="b" t="t" l="l"/>
            <a:pathLst>
              <a:path h="1736781" w="4637037">
                <a:moveTo>
                  <a:pt x="4637037" y="0"/>
                </a:moveTo>
                <a:lnTo>
                  <a:pt x="0" y="0"/>
                </a:lnTo>
                <a:lnTo>
                  <a:pt x="0" y="1736781"/>
                </a:lnTo>
                <a:lnTo>
                  <a:pt x="4637037" y="1736781"/>
                </a:lnTo>
                <a:lnTo>
                  <a:pt x="463703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DAHEfdFrn9E</dc:identifier>
  <dcterms:modified xsi:type="dcterms:W3CDTF">2011-08-01T06:04:30Z</dcterms:modified>
  <cp:revision>1</cp:revision>
  <dc:title>Computer</dc:title>
</cp:coreProperties>
</file>